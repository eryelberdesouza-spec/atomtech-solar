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64" r:id="rId3"/>
    <p:sldId id="266" r:id="rId4"/>
    <p:sldId id="269" r:id="rId5"/>
    <p:sldId id="271" r:id="rId6"/>
    <p:sldId id="272" r:id="rId7"/>
  </p:sldIdLst>
  <p:sldSz cx="10688638" cy="7562850"/>
  <p:notesSz cx="7099300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-48" y="-3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" cy="7562088"/>
          </a:xfrm>
          <a:prstGeom prst="rect">
            <a:avLst/>
          </a:prstGeom>
          <a:solidFill>
            <a:srgbClr val="0A2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840480" y="0"/>
            <a:ext cx="146304" cy="7562088"/>
          </a:xfrm>
          <a:prstGeom prst="rect">
            <a:avLst/>
          </a:prstGeom>
          <a:solidFill>
            <a:srgbClr val="D3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7342632"/>
            <a:ext cx="10689336" cy="219456"/>
          </a:xfrm>
          <a:prstGeom prst="rect">
            <a:avLst/>
          </a:prstGeom>
          <a:solidFill>
            <a:srgbClr val="0A2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ATOM TECH | Gestão Inteligente de Energia</a:t>
            </a:r>
          </a:p>
        </p:txBody>
      </p:sp>
      <p:sp>
        <p:nvSpPr>
          <p:cNvPr id="6" name="Rectangle 5"/>
          <p:cNvSpPr/>
          <p:nvPr/>
        </p:nvSpPr>
        <p:spPr>
          <a:xfrm>
            <a:off x="3986784" y="384048"/>
            <a:ext cx="6217920" cy="73152"/>
          </a:xfrm>
          <a:prstGeom prst="rect">
            <a:avLst/>
          </a:prstGeom>
          <a:solidFill>
            <a:srgbClr val="D3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11480" y="3579876"/>
            <a:ext cx="2926080" cy="1463040"/>
          </a:xfrm>
          <a:prstGeom prst="roundRect">
            <a:avLst/>
          </a:prstGeom>
          <a:solidFill>
            <a:srgbClr val="134A3D"/>
          </a:solidFill>
          <a:ln>
            <a:solidFill>
              <a:srgbClr val="13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2000" dirty="0"/>
              <a:t>{{CLIENTE_NOME_L1}}</a:t>
            </a:r>
            <a:r>
              <a:rPr sz="2000" dirty="0" err="1"/>
              <a:t>{{CLIENTE_NOME_L2}}</a:t>
            </a:r>
            <a:r>
              <a:rPr sz="2000" dirty="0"/>
              <a:t> e </a:t>
            </a:r>
            <a:r>
              <a:rPr sz="2000" dirty="0" err="1"/>
              <a:t>{{CLIENTE_NOME_L3}}</a:t>
            </a:r>
            <a:r>
              <a:rPr sz="2000" dirty="0"/>
              <a:t> </a:t>
            </a:r>
            <a:r>
              <a:rPr sz="2000" dirty="0" err="1"/>
              <a:t>{{CLIENTE_NOME_L4}}</a:t>
            </a:r>
            <a:endParaRPr sz="2000" dirty="0"/>
          </a:p>
          <a:p>
            <a:pPr algn="ctr">
              <a:defRPr sz="1150">
                <a:solidFill>
                  <a:srgbClr val="FFFFFF"/>
                </a:solidFill>
              </a:defRPr>
            </a:pPr>
            <a:endParaRPr lang="pt-BR" sz="1600" dirty="0"/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rPr sz="1400" dirty="0" err="1"/>
              <a:t>Mês</a:t>
            </a:r>
            <a:r>
              <a:rPr sz="1400" dirty="0"/>
              <a:t>: {{MES_ANO}}   |   Tipo: </a:t>
            </a:r>
            <a:r>
              <a:rPr sz="1400" dirty="0" err="1"/>
              <a:t>{{TIPO_CICLO}}</a:t>
            </a:r>
            <a:endParaRPr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4315968" y="1143000"/>
            <a:ext cx="57150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2A22"/>
                </a:solidFill>
              </a:defRPr>
            </a:pPr>
            <a:r>
              <a:t>Relatório Mensal de Gestão Inteligente de Energia</a:t>
            </a:r>
          </a:p>
          <a:p>
            <a:pPr>
              <a:defRPr sz="1400">
                <a:solidFill>
                  <a:srgbClr val="5F676C"/>
                </a:solidFill>
              </a:defRPr>
            </a:pPr>
            <a:r>
              <a:t>{{CLIENTE_NOME}} | Relatório técnico mensal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331720"/>
            <a:ext cx="5623560" cy="731520"/>
          </a:xfrm>
          <a:prstGeom prst="roundRect">
            <a:avLst/>
          </a:prstGeom>
          <a:solidFill>
            <a:srgbClr val="F8F0D8"/>
          </a:solidFill>
          <a:ln>
            <a:solidFill>
              <a:srgbClr val="D3A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l">
              <a:defRPr sz="1300" b="0">
                <a:solidFill>
                  <a:srgbClr val="2D3439"/>
                </a:solidFill>
              </a:defRPr>
            </a:pPr>
            <a:r>
              <a:t>Relatório executivo com leitura técnica objetiva da performance, da fatura e da compensação de energia.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3337560"/>
            <a:ext cx="1737360" cy="868680"/>
          </a:xfrm>
          <a:prstGeom prst="roundRect">
            <a:avLst/>
          </a:prstGeom>
          <a:solidFill>
            <a:srgbClr val="F9FAFB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43400" y="3337560"/>
            <a:ext cx="73152" cy="868680"/>
          </a:xfrm>
          <a:prstGeom prst="rect">
            <a:avLst/>
          </a:prstGeom>
          <a:solidFill>
            <a:srgbClr val="134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07992" y="3447288"/>
            <a:ext cx="1508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76C"/>
                </a:solidFill>
              </a:defRPr>
            </a:pPr>
            <a:r>
              <a:t>Sistema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3630168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2A22"/>
                </a:solidFill>
              </a:defRPr>
            </a:pPr>
            <a:r>
              <a:t>{{POTENCIA_KWP}}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3337560"/>
            <a:ext cx="1737360" cy="868680"/>
          </a:xfrm>
          <a:prstGeom prst="roundRect">
            <a:avLst/>
          </a:prstGeom>
          <a:solidFill>
            <a:srgbClr val="F9FAFB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36208" y="3337560"/>
            <a:ext cx="73152" cy="868680"/>
          </a:xfrm>
          <a:prstGeom prst="rect">
            <a:avLst/>
          </a:prstGeom>
          <a:solidFill>
            <a:srgbClr val="D3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3447288"/>
            <a:ext cx="1508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76C"/>
                </a:solidFill>
              </a:defRPr>
            </a:pPr>
            <a:r>
              <a:t>Geração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630168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2A22"/>
                </a:solidFill>
              </a:defRPr>
            </a:pPr>
            <a:r>
              <a:t>{{GERACAO_KWH}}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29016" y="3337560"/>
            <a:ext cx="1737360" cy="868680"/>
          </a:xfrm>
          <a:prstGeom prst="roundRect">
            <a:avLst/>
          </a:prstGeom>
          <a:solidFill>
            <a:srgbClr val="F9FAFB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29016" y="3337560"/>
            <a:ext cx="73152" cy="868680"/>
          </a:xfrm>
          <a:prstGeom prst="rect">
            <a:avLst/>
          </a:prstGeom>
          <a:solidFill>
            <a:srgbClr val="33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93608" y="3447288"/>
            <a:ext cx="1508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76C"/>
                </a:solidFill>
              </a:defRPr>
            </a:pPr>
            <a:r>
              <a:t>Economia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8" y="3630168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2A22"/>
                </a:solidFill>
              </a:defRPr>
            </a:pPr>
            <a:r>
              <a:t>{{ECONOMIA_R$}}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4407408"/>
            <a:ext cx="5522976" cy="868680"/>
          </a:xfrm>
          <a:prstGeom prst="roundRect">
            <a:avLst/>
          </a:prstGeom>
          <a:solidFill>
            <a:srgbClr val="E9F2EF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43400" y="4407408"/>
            <a:ext cx="73152" cy="868680"/>
          </a:xfrm>
          <a:prstGeom prst="rect">
            <a:avLst/>
          </a:prstGeom>
          <a:solidFill>
            <a:srgbClr val="134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07992" y="4517136"/>
            <a:ext cx="529437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76C"/>
                </a:solidFill>
              </a:defRPr>
            </a:pPr>
            <a:r>
              <a:t>Status do mês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07992" y="4700016"/>
            <a:ext cx="52943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2A22"/>
                </a:solidFill>
              </a:defRPr>
            </a:pPr>
            <a:r>
              <a:t>{{STATUS_MES}}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5486400"/>
            <a:ext cx="5532120" cy="64008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defRPr sz="1150" b="0">
                <a:solidFill>
                  <a:srgbClr val="5F676C"/>
                </a:solidFill>
              </a:defRPr>
            </a:pPr>
            <a:r>
              <a:t>Objetivo: apresentar geração, leitura da fatura, compensação, alertas e recomendação final do período.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21B41D1-32BE-8301-888E-5E8DD17DA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584200"/>
            <a:ext cx="2667000" cy="125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334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89336" cy="128016"/>
          </a:xfrm>
          <a:prstGeom prst="rect">
            <a:avLst/>
          </a:prstGeom>
          <a:solidFill>
            <a:srgbClr val="D3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42632"/>
            <a:ext cx="10689336" cy="219456"/>
          </a:xfrm>
          <a:prstGeom prst="rect">
            <a:avLst/>
          </a:prstGeom>
          <a:solidFill>
            <a:srgbClr val="0A2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ATOM TECH | Gestão Inteligente de Energia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11480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2A22"/>
                </a:solidFill>
              </a:defRPr>
            </a:pPr>
            <a:r>
              <a:t>Visão Executiva do Período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786384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76C"/>
                </a:solidFill>
              </a:defRPr>
            </a:pPr>
            <a:r>
              <a:t>Resumo objetivo para leitura do cliente.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2148840" cy="868680"/>
          </a:xfrm>
          <a:prstGeom prst="roundRect">
            <a:avLst/>
          </a:prstGeom>
          <a:solidFill>
            <a:srgbClr val="F9FAFB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73152" cy="868680"/>
          </a:xfrm>
          <a:prstGeom prst="rect">
            <a:avLst/>
          </a:prstGeom>
          <a:solidFill>
            <a:srgbClr val="134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1344168"/>
            <a:ext cx="1920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76C"/>
                </a:solidFill>
              </a:defRPr>
            </a:pPr>
            <a:r>
              <a:t>Potência instalada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527048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2A22"/>
                </a:solidFill>
              </a:defRPr>
            </a:pPr>
            <a:r>
              <a:t>{{POTENCIA_KWP}}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24912" y="1234440"/>
            <a:ext cx="2148840" cy="868680"/>
          </a:xfrm>
          <a:prstGeom prst="roundRect">
            <a:avLst/>
          </a:prstGeom>
          <a:solidFill>
            <a:srgbClr val="F9FAFB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24912" y="1234440"/>
            <a:ext cx="73152" cy="868680"/>
          </a:xfrm>
          <a:prstGeom prst="rect">
            <a:avLst/>
          </a:prstGeom>
          <a:solidFill>
            <a:srgbClr val="D3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89504" y="1344168"/>
            <a:ext cx="1920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76C"/>
                </a:solidFill>
              </a:defRPr>
            </a:pPr>
            <a:r>
              <a:t>Geração do período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9504" y="1527048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2A22"/>
                </a:solidFill>
              </a:defRPr>
            </a:pPr>
            <a:r>
              <a:t>{{GERACAO_KWH}}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92624" y="1234440"/>
            <a:ext cx="2148840" cy="868680"/>
          </a:xfrm>
          <a:prstGeom prst="roundRect">
            <a:avLst/>
          </a:prstGeom>
          <a:solidFill>
            <a:srgbClr val="F9FAFB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992624" y="1234440"/>
            <a:ext cx="73152" cy="868680"/>
          </a:xfrm>
          <a:prstGeom prst="rect">
            <a:avLst/>
          </a:prstGeom>
          <a:solidFill>
            <a:srgbClr val="33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57216" y="1344168"/>
            <a:ext cx="1920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76C"/>
                </a:solidFill>
              </a:defRPr>
            </a:pPr>
            <a:r>
              <a:t>Economia estimada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7216" y="1527048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2A22"/>
                </a:solidFill>
              </a:defRPr>
            </a:pPr>
            <a:r>
              <a:t>{{ECONOMIA_R$}}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0336" y="1234440"/>
            <a:ext cx="2514600" cy="868680"/>
          </a:xfrm>
          <a:prstGeom prst="roundRect">
            <a:avLst/>
          </a:prstGeom>
          <a:solidFill>
            <a:srgbClr val="E9F2EF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260336" y="1234440"/>
            <a:ext cx="73152" cy="868680"/>
          </a:xfrm>
          <a:prstGeom prst="rect">
            <a:avLst/>
          </a:prstGeom>
          <a:solidFill>
            <a:srgbClr val="134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24928" y="1344168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76C"/>
                </a:solidFill>
              </a:defRPr>
            </a:pPr>
            <a:r>
              <a:t>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4928" y="152704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2A22"/>
                </a:solidFill>
              </a:defRPr>
            </a:pPr>
            <a:r>
              <a:t>{{STATUS_MES}}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331720"/>
            <a:ext cx="5486400" cy="2159000"/>
          </a:xfrm>
          <a:prstGeom prst="roundRect">
            <a:avLst/>
          </a:prstGeom>
          <a:solidFill>
            <a:srgbClr val="FFFFFF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>
            <a:normAutofit/>
          </a:bodyPr>
          <a:lstStyle/>
          <a:p>
            <a:pPr algn="l">
              <a:defRPr sz="1220" b="0">
                <a:solidFill>
                  <a:srgbClr val="2D3439"/>
                </a:solidFill>
              </a:defRPr>
            </a:pPr>
            <a:r>
              <a:rPr/>
              <a:t>Resumo executivo</a:t>
            </a:r>
            <a:br/>
            <a:br/>
            <a:r>
              <a:rPr/>
              <a:t>{{RESUMO_EXECUTIVO}}</a:t>
            </a:r>
            <a:br/>
            <a:br/>
            <a:r>
              <a:rPr/>
              <a:t>{{CONCLUSAO_EXECUTIVA}}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2331720"/>
            <a:ext cx="1783080" cy="310896"/>
          </a:xfrm>
          <a:prstGeom prst="rect">
            <a:avLst/>
          </a:prstGeom>
          <a:solidFill>
            <a:srgbClr val="134A3D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Campo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80" y="2331720"/>
            <a:ext cx="1965960" cy="310896"/>
          </a:xfrm>
          <a:prstGeom prst="rect">
            <a:avLst/>
          </a:prstGeom>
          <a:solidFill>
            <a:srgbClr val="134A3D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Informação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2642616"/>
            <a:ext cx="1783080" cy="310896"/>
          </a:xfrm>
          <a:prstGeom prst="rect">
            <a:avLst/>
          </a:prstGeom>
          <a:solidFill>
            <a:srgbClr val="FFFFFF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/>
          <a:lstStyle/>
          <a:p>
            <a:pPr algn="l">
              <a:defRPr sz="1200" b="0">
                <a:solidFill>
                  <a:srgbClr val="2D3439"/>
                </a:solidFill>
              </a:defRPr>
            </a:pPr>
            <a:r>
              <a:t>Mês do relatório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5280" y="2642616"/>
            <a:ext cx="1965960" cy="310896"/>
          </a:xfrm>
          <a:prstGeom prst="rect">
            <a:avLst/>
          </a:prstGeom>
          <a:solidFill>
            <a:srgbClr val="FFFFFF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>
            <a:normAutofit/>
          </a:bodyPr>
          <a:lstStyle/>
          <a:p>
            <a:pPr algn="ctr">
              <a:defRPr sz="1200" b="0">
                <a:solidFill>
                  <a:srgbClr val="2D3439"/>
                </a:solidFill>
              </a:defRPr>
            </a:pPr>
            <a:r>
              <a:rPr/>
              <a:t>{{MES_ANO}}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2953512"/>
            <a:ext cx="1783080" cy="310896"/>
          </a:xfrm>
          <a:prstGeom prst="rect">
            <a:avLst/>
          </a:prstGeom>
          <a:solidFill>
            <a:srgbClr val="F9FAFB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/>
          <a:lstStyle/>
          <a:p>
            <a:pPr algn="l">
              <a:defRPr sz="1200" b="0">
                <a:solidFill>
                  <a:srgbClr val="2D3439"/>
                </a:solidFill>
              </a:defRPr>
            </a:pPr>
            <a:r>
              <a:t>Tipo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80" y="2953512"/>
            <a:ext cx="1965960" cy="310896"/>
          </a:xfrm>
          <a:prstGeom prst="rect">
            <a:avLst/>
          </a:prstGeom>
          <a:solidFill>
            <a:srgbClr val="F9FAFB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>
            <a:normAutofit/>
          </a:bodyPr>
          <a:lstStyle/>
          <a:p>
            <a:pPr algn="ctr">
              <a:defRPr sz="1200" b="0">
                <a:solidFill>
                  <a:srgbClr val="2D3439"/>
                </a:solidFill>
              </a:defRPr>
            </a:pPr>
            <a:r>
              <a:rPr/>
              <a:t>{{TIPO_CICLO}}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3264408"/>
            <a:ext cx="1783080" cy="310896"/>
          </a:xfrm>
          <a:prstGeom prst="rect">
            <a:avLst/>
          </a:prstGeom>
          <a:solidFill>
            <a:srgbClr val="FFFFFF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/>
          <a:lstStyle/>
          <a:p>
            <a:pPr algn="l">
              <a:defRPr sz="1200" b="0">
                <a:solidFill>
                  <a:srgbClr val="2D3439"/>
                </a:solidFill>
              </a:defRPr>
            </a:pPr>
            <a:r>
              <a:t>Período GDASH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55280" y="3264408"/>
            <a:ext cx="1965960" cy="310896"/>
          </a:xfrm>
          <a:prstGeom prst="rect">
            <a:avLst/>
          </a:prstGeom>
          <a:solidFill>
            <a:srgbClr val="FFFFFF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>
            <a:normAutofit/>
          </a:bodyPr>
          <a:lstStyle/>
          <a:p>
            <a:pPr algn="ctr">
              <a:defRPr sz="1200" b="0">
                <a:solidFill>
                  <a:srgbClr val="2D3439"/>
                </a:solidFill>
              </a:defRPr>
            </a:pPr>
            <a:r>
              <a:rPr/>
              <a:t>{{MES_ANO}}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3575304"/>
            <a:ext cx="1783080" cy="310896"/>
          </a:xfrm>
          <a:prstGeom prst="rect">
            <a:avLst/>
          </a:prstGeom>
          <a:solidFill>
            <a:srgbClr val="F9FAFB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/>
          <a:lstStyle/>
          <a:p>
            <a:pPr algn="l">
              <a:defRPr sz="1200" b="0">
                <a:solidFill>
                  <a:srgbClr val="2D3439"/>
                </a:solidFill>
              </a:defRPr>
            </a:pPr>
            <a:r>
              <a:t>Fatura analisada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55280" y="3575304"/>
            <a:ext cx="1965960" cy="310896"/>
          </a:xfrm>
          <a:prstGeom prst="rect">
            <a:avLst/>
          </a:prstGeom>
          <a:solidFill>
            <a:srgbClr val="F9FAFB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>
            <a:normAutofit/>
          </a:bodyPr>
          <a:lstStyle/>
          <a:p>
            <a:pPr algn="ctr">
              <a:defRPr sz="1200" b="0">
                <a:solidFill>
                  <a:srgbClr val="2D3439"/>
                </a:solidFill>
              </a:defRPr>
            </a:pPr>
            <a:r>
              <a:rPr/>
              <a:t>{{REF_MES_ANO}}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3886200"/>
            <a:ext cx="1783080" cy="310896"/>
          </a:xfrm>
          <a:prstGeom prst="rect">
            <a:avLst/>
          </a:prstGeom>
          <a:solidFill>
            <a:srgbClr val="FFFFFF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/>
          <a:lstStyle/>
          <a:p>
            <a:pPr algn="l">
              <a:defRPr sz="1200" b="0">
                <a:solidFill>
                  <a:srgbClr val="2D3439"/>
                </a:solidFill>
              </a:defRPr>
            </a:pPr>
            <a:r>
              <a:t>Ciclo de leitura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80" y="3886200"/>
            <a:ext cx="1965960" cy="310896"/>
          </a:xfrm>
          <a:prstGeom prst="rect">
            <a:avLst/>
          </a:prstGeom>
          <a:solidFill>
            <a:srgbClr val="FFFFFF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>
            <a:normAutofit/>
          </a:bodyPr>
          <a:lstStyle/>
          <a:p>
            <a:pPr algn="ctr">
              <a:defRPr sz="1200" b="0">
                <a:solidFill>
                  <a:srgbClr val="2D3439"/>
                </a:solidFill>
              </a:defRPr>
            </a:pPr>
            <a:r>
              <a:rPr/>
              <a:t>{{CICLO_LEITURA}}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2200" y="4197096"/>
            <a:ext cx="1783080" cy="310896"/>
          </a:xfrm>
          <a:prstGeom prst="rect">
            <a:avLst/>
          </a:prstGeom>
          <a:solidFill>
            <a:srgbClr val="F9FAFB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/>
          <a:lstStyle/>
          <a:p>
            <a:pPr algn="l">
              <a:defRPr sz="1200" b="0">
                <a:solidFill>
                  <a:srgbClr val="2D3439"/>
                </a:solidFill>
              </a:defRPr>
            </a:pPr>
            <a:r>
              <a:t>Vencimento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55280" y="4197096"/>
            <a:ext cx="1965960" cy="310896"/>
          </a:xfrm>
          <a:prstGeom prst="rect">
            <a:avLst/>
          </a:prstGeom>
          <a:solidFill>
            <a:srgbClr val="F9FAFB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>
            <a:normAutofit/>
          </a:bodyPr>
          <a:lstStyle/>
          <a:p>
            <a:pPr algn="ctr">
              <a:defRPr sz="1200" b="0">
                <a:solidFill>
                  <a:srgbClr val="2D3439"/>
                </a:solidFill>
              </a:defRPr>
            </a:pPr>
            <a:r>
              <a:rPr/>
              <a:t>{{VENCIMENTO}}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4699000"/>
            <a:ext cx="9326880" cy="914400"/>
          </a:xfrm>
          <a:prstGeom prst="roundRect">
            <a:avLst/>
          </a:prstGeom>
          <a:solidFill>
            <a:srgbClr val="F8F0D8"/>
          </a:solidFill>
          <a:ln>
            <a:solidFill>
              <a:srgbClr val="D3A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>
            <a:normAutofit/>
          </a:bodyPr>
          <a:lstStyle/>
          <a:p>
            <a:pPr algn="l">
              <a:defRPr sz="1170" b="0">
                <a:solidFill>
                  <a:srgbClr val="2D3439"/>
                </a:solidFill>
              </a:defRPr>
            </a:pPr>
            <a:r>
              <a:rPr dirty="0" err="1"/>
              <a:t>{{LEITURA_TECNICA}}</a:t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br>
              <a:rPr dirty="0"/>
            </a:b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C1A19B28-221F-791A-8682-6F5722546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0" y="279400"/>
            <a:ext cx="1206500" cy="566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846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89336" cy="128016"/>
          </a:xfrm>
          <a:prstGeom prst="rect">
            <a:avLst/>
          </a:prstGeom>
          <a:solidFill>
            <a:srgbClr val="D3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42632"/>
            <a:ext cx="10689336" cy="219456"/>
          </a:xfrm>
          <a:prstGeom prst="rect">
            <a:avLst/>
          </a:prstGeom>
          <a:solidFill>
            <a:srgbClr val="0A2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ATOM TECH | Gestão Inteligente de Energia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11480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2A22"/>
                </a:solidFill>
              </a:defRPr>
            </a:pPr>
            <a:r>
              <a:t>Performance do Sistema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786384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76C"/>
                </a:solidFill>
              </a:defRPr>
            </a:pPr>
            <a:r>
              <a:t>Comparativo sintético do desempenho.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1920240" cy="822960"/>
          </a:xfrm>
          <a:prstGeom prst="roundRect">
            <a:avLst/>
          </a:prstGeom>
          <a:solidFill>
            <a:srgbClr val="F9FAFB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73152" cy="822960"/>
          </a:xfrm>
          <a:prstGeom prst="rect">
            <a:avLst/>
          </a:prstGeom>
          <a:solidFill>
            <a:srgbClr val="D3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1527048"/>
            <a:ext cx="1691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76C"/>
                </a:solidFill>
              </a:defRPr>
            </a:pPr>
            <a:r>
              <a:t>Geração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709928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2A22"/>
                </a:solidFill>
              </a:defRPr>
            </a:pPr>
            <a:r>
              <a:t>{{GERACAO_KWH}}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1417320"/>
            <a:ext cx="1920240" cy="822960"/>
          </a:xfrm>
          <a:prstGeom prst="roundRect">
            <a:avLst/>
          </a:prstGeom>
          <a:solidFill>
            <a:srgbClr val="F9FAFB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14600" y="1417320"/>
            <a:ext cx="73152" cy="822960"/>
          </a:xfrm>
          <a:prstGeom prst="rect">
            <a:avLst/>
          </a:prstGeom>
          <a:solidFill>
            <a:srgbClr val="134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79192" y="1527048"/>
            <a:ext cx="1691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76C"/>
                </a:solidFill>
              </a:defRPr>
            </a:pPr>
            <a:r>
              <a:t>Desempenho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9192" y="1709928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2A22"/>
                </a:solidFill>
              </a:defRPr>
            </a:pPr>
            <a:r>
              <a:t>{{DESEMPENHO_PCT}}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1417320"/>
            <a:ext cx="1920240" cy="822960"/>
          </a:xfrm>
          <a:prstGeom prst="roundRect">
            <a:avLst/>
          </a:prstGeom>
          <a:solidFill>
            <a:srgbClr val="F9FAFB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0" y="1417320"/>
            <a:ext cx="73152" cy="822960"/>
          </a:xfrm>
          <a:prstGeom prst="rect">
            <a:avLst/>
          </a:prstGeom>
          <a:solidFill>
            <a:srgbClr val="33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36592" y="1527048"/>
            <a:ext cx="1691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76C"/>
                </a:solidFill>
              </a:defRPr>
            </a:pPr>
            <a:r>
              <a:t>Economia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1709928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2A22"/>
                </a:solidFill>
              </a:defRPr>
            </a:pPr>
            <a:r>
              <a:t>{{ECONOMIA_R$}}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9400" y="1417320"/>
            <a:ext cx="3154680" cy="822960"/>
          </a:xfrm>
          <a:prstGeom prst="roundRect">
            <a:avLst/>
          </a:prstGeom>
          <a:solidFill>
            <a:srgbClr val="E9F2EF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629400" y="1417320"/>
            <a:ext cx="73152" cy="822960"/>
          </a:xfrm>
          <a:prstGeom prst="rect">
            <a:avLst/>
          </a:prstGeom>
          <a:solidFill>
            <a:srgbClr val="134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93992" y="152704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76C"/>
                </a:solidFill>
              </a:defRPr>
            </a:pPr>
            <a:r>
              <a:t>Autoconsumo simultâneo estimado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93992" y="1709928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2A22"/>
                </a:solidFill>
              </a:defRPr>
            </a:pPr>
            <a:r>
              <a:t>{{AUTOCONSUMO_KWH}}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560320"/>
            <a:ext cx="4572000" cy="1828800"/>
          </a:xfrm>
          <a:prstGeom prst="roundRect">
            <a:avLst/>
          </a:prstGeom>
          <a:solidFill>
            <a:srgbClr val="F9FAFB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>
            <a:normAutofit/>
          </a:bodyPr>
          <a:lstStyle/>
          <a:p>
            <a:pPr algn="l">
              <a:defRPr sz="1300" b="0">
                <a:solidFill>
                  <a:srgbClr val="2D3439"/>
                </a:solidFill>
              </a:defRPr>
            </a:pPr>
            <a:r>
              <a:rPr dirty="0" err="1"/>
              <a:t>{{ANALISE_DESEMPENHO}}</a:t>
            </a:r>
            <a:r>
              <a:rPr dirty="0"/>
              <a:t/>
            </a:r>
            <a:r>
              <a:rPr dirty="0" err="1"/>
              <a:t/>
            </a:r>
            <a:br>
              <a:rPr dirty="0"/>
            </a:br>
            <a:br>
              <a:rPr dirty="0"/>
            </a:b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5257800" y="2560320"/>
            <a:ext cx="1325880" cy="384048"/>
          </a:xfrm>
          <a:prstGeom prst="rect">
            <a:avLst/>
          </a:prstGeom>
          <a:solidFill>
            <a:srgbClr val="134A3D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Período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2560320"/>
            <a:ext cx="1234440" cy="384048"/>
          </a:xfrm>
          <a:prstGeom prst="rect">
            <a:avLst/>
          </a:prstGeom>
          <a:solidFill>
            <a:srgbClr val="134A3D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Geração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18120" y="2560320"/>
            <a:ext cx="1097280" cy="384048"/>
          </a:xfrm>
          <a:prstGeom prst="rect">
            <a:avLst/>
          </a:prstGeom>
          <a:solidFill>
            <a:srgbClr val="134A3D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Desemp.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15400" y="2560320"/>
            <a:ext cx="1325880" cy="384048"/>
          </a:xfrm>
          <a:prstGeom prst="rect">
            <a:avLst/>
          </a:prstGeom>
          <a:solidFill>
            <a:srgbClr val="134A3D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Economia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57800" y="2944368"/>
            <a:ext cx="13258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>
            <a:normAutofit/>
          </a:bodyPr>
          <a:lstStyle/>
          <a:p>
            <a:pPr algn="l">
              <a:defRPr sz="1200" b="0">
                <a:solidFill>
                  <a:srgbClr val="2D3439"/>
                </a:solidFill>
              </a:defRPr>
            </a:pPr>
            <a:r>
              <a:rPr/>
              <a:t>{{MES_ANTERIOR}}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2944368"/>
            <a:ext cx="12344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>
            <a:normAutofit/>
          </a:bodyPr>
          <a:lstStyle/>
          <a:p>
            <a:pPr algn="r">
              <a:defRPr sz="1200" b="0">
                <a:solidFill>
                  <a:srgbClr val="2D3439"/>
                </a:solidFill>
              </a:defRPr>
            </a:pPr>
            <a:r>
              <a:rPr/>
              <a:t>{{GERACAO_MES_ANTERIOR_KWH}}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18120" y="2944368"/>
            <a:ext cx="10972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>
            <a:normAutofit/>
          </a:bodyPr>
          <a:lstStyle/>
          <a:p>
            <a:pPr algn="r">
              <a:defRPr sz="1200" b="0">
                <a:solidFill>
                  <a:srgbClr val="2D3439"/>
                </a:solidFill>
              </a:defRPr>
            </a:pPr>
            <a:r>
              <a:rPr/>
              <a:t>{{DESEMPENHO_MES_ANTERIOR_PCT}}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15400" y="2944368"/>
            <a:ext cx="13258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>
            <a:normAutofit/>
          </a:bodyPr>
          <a:lstStyle/>
          <a:p>
            <a:pPr algn="r">
              <a:defRPr sz="1200" b="0">
                <a:solidFill>
                  <a:srgbClr val="2D3439"/>
                </a:solidFill>
              </a:defRPr>
            </a:pPr>
            <a:r>
              <a:rPr/>
              <a:t>{{ECONOMIA_MES_ANTERIOR_R$}}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57800" y="3328416"/>
            <a:ext cx="1325880" cy="384048"/>
          </a:xfrm>
          <a:prstGeom prst="rect">
            <a:avLst/>
          </a:prstGeom>
          <a:solidFill>
            <a:srgbClr val="F9FAFB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>
            <a:normAutofit/>
          </a:bodyPr>
          <a:lstStyle/>
          <a:p>
            <a:pPr algn="l">
              <a:defRPr sz="1200" b="0">
                <a:solidFill>
                  <a:srgbClr val="2D3439"/>
                </a:solidFill>
              </a:defRPr>
            </a:pPr>
            <a:r>
              <a:rPr/>
              <a:t>{{MES_ATUAL}}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3328416"/>
            <a:ext cx="1234440" cy="384048"/>
          </a:xfrm>
          <a:prstGeom prst="rect">
            <a:avLst/>
          </a:prstGeom>
          <a:solidFill>
            <a:srgbClr val="F9FAFB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>
            <a:normAutofit/>
          </a:bodyPr>
          <a:lstStyle/>
          <a:p>
            <a:pPr algn="r">
              <a:defRPr sz="1200" b="0">
                <a:solidFill>
                  <a:srgbClr val="2D3439"/>
                </a:solidFill>
              </a:defRPr>
            </a:pPr>
            <a:r>
              <a:rPr/>
              <a:t>{{GERACAO_KWH}}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18120" y="3328416"/>
            <a:ext cx="1097280" cy="384048"/>
          </a:xfrm>
          <a:prstGeom prst="rect">
            <a:avLst/>
          </a:prstGeom>
          <a:solidFill>
            <a:srgbClr val="F9FAFB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>
            <a:normAutofit/>
          </a:bodyPr>
          <a:lstStyle/>
          <a:p>
            <a:pPr algn="r">
              <a:defRPr sz="1200" b="0">
                <a:solidFill>
                  <a:srgbClr val="2D3439"/>
                </a:solidFill>
              </a:defRPr>
            </a:pPr>
            <a:r>
              <a:rPr/>
              <a:t>{{DESEMPENHO_PCT}}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15400" y="3328416"/>
            <a:ext cx="1325880" cy="384048"/>
          </a:xfrm>
          <a:prstGeom prst="rect">
            <a:avLst/>
          </a:prstGeom>
          <a:solidFill>
            <a:srgbClr val="F9FAFB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>
            <a:normAutofit/>
          </a:bodyPr>
          <a:lstStyle/>
          <a:p>
            <a:pPr algn="r">
              <a:defRPr sz="1200" b="0">
                <a:solidFill>
                  <a:srgbClr val="2D3439"/>
                </a:solidFill>
              </a:defRPr>
            </a:pPr>
            <a:r>
              <a:rPr/>
              <a:t>{{ECONOMIA_R$}}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57800" y="3712464"/>
            <a:ext cx="13258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>
            <a:normAutofit/>
          </a:bodyPr>
          <a:lstStyle/>
          <a:p>
            <a:pPr algn="l">
              <a:defRPr sz="1200" b="0">
                <a:solidFill>
                  <a:srgbClr val="2D3439"/>
                </a:solidFill>
              </a:defRPr>
            </a:pPr>
            <a:r>
              <a:rPr/>
              <a:t>{{MES_SEGUINTE}}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0" y="3712464"/>
            <a:ext cx="12344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>
            <a:normAutofit/>
          </a:bodyPr>
          <a:lstStyle/>
          <a:p>
            <a:pPr algn="r">
              <a:defRPr sz="1200" b="0">
                <a:solidFill>
                  <a:srgbClr val="2D3439"/>
                </a:solidFill>
              </a:defRPr>
            </a:pPr>
            <a:r>
              <a:rPr/>
              <a:t>{{GERACAO_MES_SEGUINTE_KWH}}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18120" y="3712464"/>
            <a:ext cx="10972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>
            <a:normAutofit/>
          </a:bodyPr>
          <a:lstStyle/>
          <a:p>
            <a:pPr algn="r">
              <a:defRPr sz="1200" b="0">
                <a:solidFill>
                  <a:srgbClr val="2D3439"/>
                </a:solidFill>
              </a:defRPr>
            </a:pPr>
            <a:r>
              <a:rPr/>
              <a:t>{{DESEMPENHO_MES_SEGUINTE_PCT}}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15400" y="3712464"/>
            <a:ext cx="13258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>
            <a:normAutofit/>
          </a:bodyPr>
          <a:lstStyle/>
          <a:p>
            <a:pPr algn="r">
              <a:defRPr sz="1200" b="0">
                <a:solidFill>
                  <a:srgbClr val="2D3439"/>
                </a:solidFill>
              </a:defRPr>
            </a:pPr>
            <a:r>
              <a:rPr/>
              <a:t>{{ECONOMIA_MES_SEGUINTE_R$}}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257800" y="4297680"/>
            <a:ext cx="4526280" cy="868680"/>
          </a:xfrm>
          <a:prstGeom prst="roundRect">
            <a:avLst/>
          </a:prstGeom>
          <a:solidFill>
            <a:srgbClr val="E9F2EF"/>
          </a:solidFill>
          <a:ln>
            <a:solidFill>
              <a:srgbClr val="13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>
            <a:normAutofit/>
          </a:bodyPr>
          <a:lstStyle/>
          <a:p>
            <a:pPr algn="l">
              <a:defRPr sz="1200" b="0">
                <a:solidFill>
                  <a:srgbClr val="2D3439"/>
                </a:solidFill>
              </a:defRPr>
            </a:pPr>
            <a:r>
              <a:rPr dirty="0" err="1"/>
              <a:t>{{CONCLUSAO_PERFORMANCE}}</a:t>
            </a:r>
            <a:r>
              <a:rPr dirty="0"/>
              <a:t/>
            </a:r>
            <a:br>
              <a:rPr dirty="0"/>
            </a:b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</a:p>
        </p:txBody>
      </p:sp>
      <p:pic>
        <p:nvPicPr>
          <p:cNvPr id="41" name="Imagem 40">
            <a:extLst>
              <a:ext uri="{FF2B5EF4-FFF2-40B4-BE49-F238E27FC236}">
                <a16:creationId xmlns:a16="http://schemas.microsoft.com/office/drawing/2014/main" id="{91262E10-B8F1-A379-F2BB-C4B33CB62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0" y="279400"/>
            <a:ext cx="1206500" cy="566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45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89336" cy="128016"/>
          </a:xfrm>
          <a:prstGeom prst="rect">
            <a:avLst/>
          </a:prstGeom>
          <a:solidFill>
            <a:srgbClr val="D3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42632"/>
            <a:ext cx="10689336" cy="219456"/>
          </a:xfrm>
          <a:prstGeom prst="rect">
            <a:avLst/>
          </a:prstGeom>
          <a:solidFill>
            <a:srgbClr val="0A2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ATOM TECH | Gestão Inteligente de Energia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11480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2A22"/>
                </a:solidFill>
              </a:defRPr>
            </a:pPr>
            <a:r>
              <a:t>Fatura e Compensação de Energia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786384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76C"/>
                </a:solidFill>
              </a:defRPr>
            </a:pPr>
            <a:r>
              <a:t>Como a {{DISTRIBUIDORA}} contabilizou a energia injetada.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2377440" cy="822960"/>
          </a:xfrm>
          <a:prstGeom prst="roundRect">
            <a:avLst/>
          </a:prstGeom>
          <a:solidFill>
            <a:srgbClr val="F9FAFB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73152" cy="822960"/>
          </a:xfrm>
          <a:prstGeom prst="rect">
            <a:avLst/>
          </a:prstGeom>
          <a:solidFill>
            <a:srgbClr val="134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1389888"/>
            <a:ext cx="2148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76C"/>
                </a:solidFill>
              </a:defRPr>
            </a:pPr>
            <a:r>
              <a:t>Consumo medido da rede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572768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2A22"/>
                </a:solidFill>
              </a:defRPr>
            </a:pPr>
            <a:r>
              <a:t>{{CONSUMO_MEDIDO_KWH}}</a:t>
            </a:r>
          </a:p>
        </p:txBody>
      </p:sp>
      <p:sp>
        <p:nvSpPr>
          <p:cNvPr id="11" name="Chevron 10"/>
          <p:cNvSpPr/>
          <p:nvPr/>
        </p:nvSpPr>
        <p:spPr>
          <a:xfrm>
            <a:off x="2926080" y="1481328"/>
            <a:ext cx="384048" cy="256032"/>
          </a:xfrm>
          <a:prstGeom prst="chevron">
            <a:avLst/>
          </a:prstGeom>
          <a:solidFill>
            <a:srgbClr val="134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401568" y="1280160"/>
            <a:ext cx="2377440" cy="822960"/>
          </a:xfrm>
          <a:prstGeom prst="roundRect">
            <a:avLst/>
          </a:prstGeom>
          <a:solidFill>
            <a:srgbClr val="F8F0D8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01568" y="1280160"/>
            <a:ext cx="73152" cy="822960"/>
          </a:xfrm>
          <a:prstGeom prst="rect">
            <a:avLst/>
          </a:prstGeom>
          <a:solidFill>
            <a:srgbClr val="D3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66160" y="1389888"/>
            <a:ext cx="2148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76C"/>
                </a:solidFill>
              </a:defRPr>
            </a:pPr>
            <a:r>
              <a:t>Energia compensada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1572768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2A22"/>
                </a:solidFill>
              </a:defRPr>
            </a:pPr>
            <a:r>
              <a:t>{{ENERGIA_COMPENSADA_KWH}}</a:t>
            </a:r>
          </a:p>
        </p:txBody>
      </p:sp>
      <p:sp>
        <p:nvSpPr>
          <p:cNvPr id="16" name="Chevron 15"/>
          <p:cNvSpPr/>
          <p:nvPr/>
        </p:nvSpPr>
        <p:spPr>
          <a:xfrm>
            <a:off x="5870448" y="1481328"/>
            <a:ext cx="384048" cy="256032"/>
          </a:xfrm>
          <a:prstGeom prst="chevron">
            <a:avLst/>
          </a:prstGeom>
          <a:solidFill>
            <a:srgbClr val="134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355080" y="1280160"/>
            <a:ext cx="3429000" cy="822960"/>
          </a:xfrm>
          <a:prstGeom prst="roundRect">
            <a:avLst/>
          </a:prstGeom>
          <a:solidFill>
            <a:srgbClr val="E9F2EF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55080" y="1280160"/>
            <a:ext cx="73152" cy="822960"/>
          </a:xfrm>
          <a:prstGeom prst="rect">
            <a:avLst/>
          </a:prstGeom>
          <a:solidFill>
            <a:srgbClr val="33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19672" y="138988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76C"/>
                </a:solidFill>
              </a:defRPr>
            </a:pPr>
            <a:r>
              <a:t>Consumo faturado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1572768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2A22"/>
                </a:solidFill>
              </a:defRPr>
            </a:pPr>
            <a:r>
              <a:t>{{CONSUMO_FATURADO_KWH}}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514600"/>
            <a:ext cx="2468880" cy="508000"/>
          </a:xfrm>
          <a:prstGeom prst="rect">
            <a:avLst/>
          </a:prstGeom>
          <a:solidFill>
            <a:srgbClr val="134A3D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Item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2514600"/>
            <a:ext cx="1905000" cy="508000"/>
          </a:xfrm>
          <a:prstGeom prst="rect">
            <a:avLst/>
          </a:prstGeom>
          <a:solidFill>
            <a:srgbClr val="134A3D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/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Valor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022600"/>
            <a:ext cx="2468880" cy="508000"/>
          </a:xfrm>
          <a:prstGeom prst="rect">
            <a:avLst/>
          </a:prstGeom>
          <a:solidFill>
            <a:srgbClr val="FFFFFF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/>
          <a:lstStyle/>
          <a:p>
            <a:pPr algn="l">
              <a:defRPr sz="1200" b="0">
                <a:solidFill>
                  <a:srgbClr val="2D3439"/>
                </a:solidFill>
              </a:defRPr>
            </a:pPr>
            <a:r>
              <a:t>Referência da fatura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3022600"/>
            <a:ext cx="1905000" cy="508000"/>
          </a:xfrm>
          <a:prstGeom prst="rect">
            <a:avLst/>
          </a:prstGeom>
          <a:solidFill>
            <a:srgbClr val="FFFFFF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>
            <a:normAutofit/>
          </a:bodyPr>
          <a:lstStyle/>
          <a:p>
            <a:pPr algn="r">
              <a:defRPr sz="1200" b="0">
                <a:solidFill>
                  <a:srgbClr val="2D3439"/>
                </a:solidFill>
              </a:defRPr>
            </a:pPr>
            <a:r>
              <a:rPr/>
              <a:t>{{REF_MES_ANO}}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530600"/>
            <a:ext cx="2468880" cy="508000"/>
          </a:xfrm>
          <a:prstGeom prst="rect">
            <a:avLst/>
          </a:prstGeom>
          <a:solidFill>
            <a:srgbClr val="F9FAFB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/>
          <a:lstStyle/>
          <a:p>
            <a:pPr algn="l">
              <a:defRPr sz="1200" b="0">
                <a:solidFill>
                  <a:srgbClr val="2D3439"/>
                </a:solidFill>
              </a:defRPr>
            </a:pPr>
            <a:r>
              <a:t>Ciclo de leitura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3530600"/>
            <a:ext cx="1905000" cy="508000"/>
          </a:xfrm>
          <a:prstGeom prst="rect">
            <a:avLst/>
          </a:prstGeom>
          <a:solidFill>
            <a:srgbClr val="F9FAFB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>
            <a:normAutofit/>
          </a:bodyPr>
          <a:lstStyle/>
          <a:p>
            <a:pPr algn="r">
              <a:defRPr sz="1200" b="0">
                <a:solidFill>
                  <a:srgbClr val="2D3439"/>
                </a:solidFill>
              </a:defRPr>
            </a:pPr>
            <a:r>
              <a:rPr/>
              <a:t>{{CICLO_LEITURA}}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038600"/>
            <a:ext cx="2468880" cy="508000"/>
          </a:xfrm>
          <a:prstGeom prst="rect">
            <a:avLst/>
          </a:prstGeom>
          <a:solidFill>
            <a:srgbClr val="FFFFFF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/>
          <a:lstStyle/>
          <a:p>
            <a:pPr algn="l">
              <a:defRPr sz="1200" b="0">
                <a:solidFill>
                  <a:srgbClr val="2D3439"/>
                </a:solidFill>
              </a:defRPr>
            </a:pPr>
            <a:r>
              <a:t>Consumo medido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26080" y="4038600"/>
            <a:ext cx="1905000" cy="508000"/>
          </a:xfrm>
          <a:prstGeom prst="rect">
            <a:avLst/>
          </a:prstGeom>
          <a:solidFill>
            <a:srgbClr val="FFFFFF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>
            <a:normAutofit/>
          </a:bodyPr>
          <a:lstStyle/>
          <a:p>
            <a:pPr algn="r">
              <a:defRPr sz="1200" b="0">
                <a:solidFill>
                  <a:srgbClr val="2D3439"/>
                </a:solidFill>
              </a:defRPr>
            </a:pPr>
            <a:r>
              <a:rPr/>
              <a:t>{{CONSUMO_MEDIDO_KWH}}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546600"/>
            <a:ext cx="2468880" cy="508000"/>
          </a:xfrm>
          <a:prstGeom prst="rect">
            <a:avLst/>
          </a:prstGeom>
          <a:solidFill>
            <a:srgbClr val="F9FAFB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/>
          <a:lstStyle/>
          <a:p>
            <a:pPr algn="l">
              <a:defRPr sz="1200" b="0">
                <a:solidFill>
                  <a:srgbClr val="2D3439"/>
                </a:solidFill>
              </a:defRPr>
            </a:pPr>
            <a:r>
              <a:t>Energia injetada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0" y="4546600"/>
            <a:ext cx="1905000" cy="508000"/>
          </a:xfrm>
          <a:prstGeom prst="rect">
            <a:avLst/>
          </a:prstGeom>
          <a:solidFill>
            <a:srgbClr val="F9FAFB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>
            <a:normAutofit/>
          </a:bodyPr>
          <a:lstStyle/>
          <a:p>
            <a:pPr algn="r">
              <a:defRPr sz="1200" b="0">
                <a:solidFill>
                  <a:srgbClr val="2D3439"/>
                </a:solidFill>
              </a:defRPr>
            </a:pPr>
            <a:r>
              <a:rPr/>
              <a:t>{{ENERGIA_INJETADA_KWH}}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054600"/>
            <a:ext cx="2468880" cy="508000"/>
          </a:xfrm>
          <a:prstGeom prst="rect">
            <a:avLst/>
          </a:prstGeom>
          <a:solidFill>
            <a:srgbClr val="FFFFFF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/>
          <a:lstStyle/>
          <a:p>
            <a:pPr algn="l">
              <a:defRPr sz="1200" b="0">
                <a:solidFill>
                  <a:srgbClr val="2D3439"/>
                </a:solidFill>
              </a:defRPr>
            </a:pPr>
            <a:r>
              <a:t>Saldo para próximo ciclo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5054600"/>
            <a:ext cx="1905000" cy="508000"/>
          </a:xfrm>
          <a:prstGeom prst="rect">
            <a:avLst/>
          </a:prstGeom>
          <a:solidFill>
            <a:srgbClr val="FFFFFF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>
            <a:normAutofit/>
          </a:bodyPr>
          <a:lstStyle/>
          <a:p>
            <a:pPr algn="r">
              <a:defRPr sz="1200" b="0">
                <a:solidFill>
                  <a:srgbClr val="2D3439"/>
                </a:solidFill>
              </a:defRPr>
            </a:pPr>
            <a:r>
              <a:rPr/>
              <a:t>{{SALDO_PROXIMO_CICLO_KWH}}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562600"/>
            <a:ext cx="2468880" cy="508000"/>
          </a:xfrm>
          <a:prstGeom prst="rect">
            <a:avLst/>
          </a:prstGeom>
          <a:solidFill>
            <a:srgbClr val="F9FAFB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/>
          <a:lstStyle/>
          <a:p>
            <a:pPr algn="l">
              <a:defRPr sz="1200" b="0">
                <a:solidFill>
                  <a:srgbClr val="2D3439"/>
                </a:solidFill>
              </a:defRPr>
            </a:pPr>
            <a:r>
              <a:t>Total a pagar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26080" y="5562600"/>
            <a:ext cx="1905000" cy="508000"/>
          </a:xfrm>
          <a:prstGeom prst="rect">
            <a:avLst/>
          </a:prstGeom>
          <a:solidFill>
            <a:srgbClr val="F9FAFB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>
            <a:normAutofit/>
          </a:bodyPr>
          <a:lstStyle/>
          <a:p>
            <a:pPr algn="r">
              <a:defRPr sz="1200" b="0">
                <a:solidFill>
                  <a:srgbClr val="2D3439"/>
                </a:solidFill>
              </a:defRPr>
            </a:pPr>
            <a:r>
              <a:rPr/>
              <a:t>{{TOTAL_A_PAGAR_R$}}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983480" y="2514600"/>
            <a:ext cx="4800600" cy="2540000"/>
          </a:xfrm>
          <a:prstGeom prst="roundRect">
            <a:avLst/>
          </a:prstGeom>
          <a:solidFill>
            <a:srgbClr val="FFFFFF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>
            <a:normAutofit/>
          </a:bodyPr>
          <a:lstStyle/>
          <a:p>
            <a:pPr>
              <a:defRPr sz="1220" b="0">
                <a:solidFill>
                  <a:srgbClr val="2D3439"/>
                </a:solidFill>
              </a:defRPr>
            </a:pPr>
            <a:r>
              <a:rPr sz="1600" dirty="0" err="1"/>
              <a:t>{{MENSAGEM_CLIENTE}}</a:t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br>
              <a:rPr sz="1400" dirty="0"/>
            </a:br>
            <a:br>
              <a:rPr sz="1400" dirty="0"/>
            </a:b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dirty="0"/>
              <a:t/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83480" y="5232400"/>
            <a:ext cx="4800600" cy="934720"/>
          </a:xfrm>
          <a:prstGeom prst="roundRect">
            <a:avLst/>
          </a:prstGeom>
          <a:solidFill>
            <a:srgbClr val="F8F0D8"/>
          </a:solidFill>
          <a:ln>
            <a:solidFill>
              <a:srgbClr val="D3A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>
            <a:normAutofit/>
          </a:bodyPr>
          <a:lstStyle/>
          <a:p>
            <a:pPr>
              <a:defRPr sz="1200" b="0">
                <a:solidFill>
                  <a:srgbClr val="2D3439"/>
                </a:solidFill>
              </a:defRPr>
            </a:pPr>
            <a:r>
              <a:rPr sz="1600" dirty="0" err="1"/>
              <a:t>Leitura</a:t>
            </a:r>
            <a:r>
              <a:rPr sz="1600" dirty="0"/>
              <a:t> final da </a:t>
            </a:r>
            <a:r>
              <a:rPr sz="1600" dirty="0" err="1"/>
              <a:t>fatura</a:t>
            </a:r>
            <a:endParaRPr lang="pt-BR" sz="1400" dirty="0"/>
          </a:p>
          <a:p>
            <a:pPr>
              <a:defRPr sz="1200" b="0">
                <a:solidFill>
                  <a:srgbClr val="2D3439"/>
                </a:solidFill>
              </a:defRPr>
            </a:pPr>
            <a:br>
              <a:rPr sz="1400" dirty="0"/>
            </a:br>
            <a:r>
              <a:rPr sz="1600" dirty="0" err="1"/>
              <a:t>{{LEITURA_FINAL_FATURA}}</a:t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26AEBD1B-A29A-6D7B-D42F-ACFA7A9DD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0" y="279400"/>
            <a:ext cx="1206500" cy="566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41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89336" cy="128016"/>
          </a:xfrm>
          <a:prstGeom prst="rect">
            <a:avLst/>
          </a:prstGeom>
          <a:solidFill>
            <a:srgbClr val="D3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42632"/>
            <a:ext cx="10689336" cy="219456"/>
          </a:xfrm>
          <a:prstGeom prst="rect">
            <a:avLst/>
          </a:prstGeom>
          <a:solidFill>
            <a:srgbClr val="0A2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ATOM TECH | Gestão Inteligente de Energia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11480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2A22"/>
                </a:solidFill>
              </a:defRPr>
            </a:pPr>
            <a:r>
              <a:t>Alertas e Recomendações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786384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76C"/>
                </a:solidFill>
              </a:defRPr>
            </a:pPr>
            <a:r>
              <a:t>Pontos que merecem acompanhamento.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0800"/>
            <a:ext cx="2743200" cy="508000"/>
          </a:xfrm>
          <a:prstGeom prst="rect">
            <a:avLst/>
          </a:prstGeom>
          <a:solidFill>
            <a:srgbClr val="134A3D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Alerta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320800"/>
            <a:ext cx="1645920" cy="508000"/>
          </a:xfrm>
          <a:prstGeom prst="rect">
            <a:avLst/>
          </a:prstGeom>
          <a:solidFill>
            <a:srgbClr val="134A3D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Classificação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1320800"/>
            <a:ext cx="4892040" cy="508000"/>
          </a:xfrm>
          <a:prstGeom prst="rect">
            <a:avLst/>
          </a:prstGeom>
          <a:solidFill>
            <a:srgbClr val="134A3D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Ação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2743200" cy="508000"/>
          </a:xfrm>
          <a:prstGeom prst="rect">
            <a:avLst/>
          </a:prstGeom>
          <a:solidFill>
            <a:srgbClr val="FFFFFF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>
            <a:normAutofit/>
          </a:bodyPr>
          <a:lstStyle/>
          <a:p>
            <a:pPr algn="l">
              <a:defRPr sz="1200" b="0">
                <a:solidFill>
                  <a:srgbClr val="2D3439"/>
                </a:solidFill>
              </a:defRPr>
            </a:pPr>
            <a:r>
              <a:rPr sz="1600" dirty="0"/>
              <a:t>{{ALERTA1_DESCRICAO}}</a:t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endParaRPr sz="1400" dirty="0"/>
          </a:p>
        </p:txBody>
      </p:sp>
      <p:sp>
        <p:nvSpPr>
          <p:cNvPr id="11" name="Rectangle 10"/>
          <p:cNvSpPr/>
          <p:nvPr/>
        </p:nvSpPr>
        <p:spPr>
          <a:xfrm>
            <a:off x="3200400" y="1828800"/>
            <a:ext cx="1645920" cy="508000"/>
          </a:xfrm>
          <a:prstGeom prst="rect">
            <a:avLst/>
          </a:prstGeom>
          <a:solidFill>
            <a:srgbClr val="FFFFFF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>
            <a:normAutofit/>
          </a:bodyPr>
          <a:lstStyle/>
          <a:p>
            <a:pPr algn="ctr">
              <a:defRPr sz="1200" b="0">
                <a:solidFill>
                  <a:srgbClr val="2D3439"/>
                </a:solidFill>
              </a:defRPr>
            </a:pPr>
            <a:r>
              <a:rPr sz="1600" dirty="0" err="1"/>
              <a:t>{{ALERTA1_CLASSIFICACAO}}</a:t>
            </a:r>
            <a:endParaRPr sz="1400" dirty="0"/>
          </a:p>
        </p:txBody>
      </p:sp>
      <p:sp>
        <p:nvSpPr>
          <p:cNvPr id="12" name="Rectangle 11"/>
          <p:cNvSpPr/>
          <p:nvPr/>
        </p:nvSpPr>
        <p:spPr>
          <a:xfrm>
            <a:off x="4846320" y="1828800"/>
            <a:ext cx="4892040" cy="508000"/>
          </a:xfrm>
          <a:prstGeom prst="rect">
            <a:avLst/>
          </a:prstGeom>
          <a:solidFill>
            <a:srgbClr val="FFFFFF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>
            <a:normAutofit/>
          </a:bodyPr>
          <a:lstStyle/>
          <a:p>
            <a:pPr algn="ctr">
              <a:defRPr sz="1200" b="0">
                <a:solidFill>
                  <a:srgbClr val="2D3439"/>
                </a:solidFill>
              </a:defRPr>
            </a:pPr>
            <a:r>
              <a:rPr sz="1600" dirty="0" err="1"/>
              <a:t>{{ALERTA1_ACAO}}</a:t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endParaRPr sz="1400" dirty="0"/>
          </a:p>
        </p:txBody>
      </p:sp>
      <p:sp>
        <p:nvSpPr>
          <p:cNvPr id="13" name="Rectangle 12"/>
          <p:cNvSpPr/>
          <p:nvPr/>
        </p:nvSpPr>
        <p:spPr>
          <a:xfrm>
            <a:off x="457200" y="2336800"/>
            <a:ext cx="2743200" cy="508000"/>
          </a:xfrm>
          <a:prstGeom prst="rect">
            <a:avLst/>
          </a:prstGeom>
          <a:solidFill>
            <a:srgbClr val="F9FAFB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>
            <a:normAutofit/>
          </a:bodyPr>
          <a:lstStyle/>
          <a:p>
            <a:pPr algn="l">
              <a:defRPr sz="1200" b="0">
                <a:solidFill>
                  <a:srgbClr val="2D3439"/>
                </a:solidFill>
              </a:defRPr>
            </a:pPr>
            <a:r>
              <a:rPr sz="1600" dirty="0" err="1"/>
              <a:t>{{ALERTA2_DESCRICAO}}</a:t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endParaRPr sz="1400" dirty="0"/>
          </a:p>
        </p:txBody>
      </p:sp>
      <p:sp>
        <p:nvSpPr>
          <p:cNvPr id="14" name="Rectangle 13"/>
          <p:cNvSpPr/>
          <p:nvPr/>
        </p:nvSpPr>
        <p:spPr>
          <a:xfrm>
            <a:off x="3200400" y="2336800"/>
            <a:ext cx="1645920" cy="508000"/>
          </a:xfrm>
          <a:prstGeom prst="rect">
            <a:avLst/>
          </a:prstGeom>
          <a:solidFill>
            <a:srgbClr val="F9FAFB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>
            <a:normAutofit/>
          </a:bodyPr>
          <a:lstStyle/>
          <a:p>
            <a:pPr algn="ctr">
              <a:defRPr sz="1200" b="0">
                <a:solidFill>
                  <a:srgbClr val="2D3439"/>
                </a:solidFill>
              </a:defRPr>
            </a:pPr>
            <a:r>
              <a:rPr sz="1600" dirty="0" err="1"/>
              <a:t>{{ALERTA2_CLASSIFICACAO}}</a:t>
            </a:r>
            <a:endParaRPr sz="1400" dirty="0"/>
          </a:p>
        </p:txBody>
      </p:sp>
      <p:sp>
        <p:nvSpPr>
          <p:cNvPr id="15" name="Rectangle 14"/>
          <p:cNvSpPr/>
          <p:nvPr/>
        </p:nvSpPr>
        <p:spPr>
          <a:xfrm>
            <a:off x="4846320" y="2336800"/>
            <a:ext cx="4892040" cy="508000"/>
          </a:xfrm>
          <a:prstGeom prst="rect">
            <a:avLst/>
          </a:prstGeom>
          <a:solidFill>
            <a:srgbClr val="F9FAFB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>
            <a:normAutofit/>
          </a:bodyPr>
          <a:lstStyle/>
          <a:p>
            <a:pPr algn="ctr">
              <a:defRPr sz="1200" b="0">
                <a:solidFill>
                  <a:srgbClr val="2D3439"/>
                </a:solidFill>
              </a:defRPr>
            </a:pPr>
            <a:r>
              <a:rPr sz="1600" dirty="0" err="1"/>
              <a:t>{{ALERTA2_ACAO}}</a:t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endParaRPr sz="1400" dirty="0"/>
          </a:p>
        </p:txBody>
      </p:sp>
      <p:sp>
        <p:nvSpPr>
          <p:cNvPr id="16" name="Rectangle 15"/>
          <p:cNvSpPr/>
          <p:nvPr/>
        </p:nvSpPr>
        <p:spPr>
          <a:xfrm>
            <a:off x="457200" y="2844800"/>
            <a:ext cx="2743200" cy="508000"/>
          </a:xfrm>
          <a:prstGeom prst="rect">
            <a:avLst/>
          </a:prstGeom>
          <a:solidFill>
            <a:srgbClr val="FFFFFF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>
            <a:normAutofit/>
          </a:bodyPr>
          <a:lstStyle/>
          <a:p>
            <a:pPr algn="l">
              <a:defRPr sz="1200" b="0">
                <a:solidFill>
                  <a:srgbClr val="2D3439"/>
                </a:solidFill>
              </a:defRPr>
            </a:pPr>
            <a:r>
              <a:rPr sz="1600" dirty="0" err="1"/>
              <a:t>{{ALERTA3_DESCRICAO}}</a:t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2844800"/>
            <a:ext cx="1645920" cy="508000"/>
          </a:xfrm>
          <a:prstGeom prst="rect">
            <a:avLst/>
          </a:prstGeom>
          <a:solidFill>
            <a:srgbClr val="FFFFFF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>
            <a:normAutofit/>
          </a:bodyPr>
          <a:lstStyle/>
          <a:p>
            <a:pPr algn="ctr">
              <a:defRPr sz="1200" b="0">
                <a:solidFill>
                  <a:srgbClr val="2D3439"/>
                </a:solidFill>
              </a:defRPr>
            </a:pPr>
            <a:r>
              <a:rPr sz="1600" dirty="0" err="1"/>
              <a:t>{{ALERTA3_CLASSIFICACAO}}</a:t>
            </a:r>
            <a:endParaRPr sz="1400" dirty="0"/>
          </a:p>
        </p:txBody>
      </p:sp>
      <p:sp>
        <p:nvSpPr>
          <p:cNvPr id="18" name="Rectangle 17"/>
          <p:cNvSpPr/>
          <p:nvPr/>
        </p:nvSpPr>
        <p:spPr>
          <a:xfrm>
            <a:off x="4846320" y="2844800"/>
            <a:ext cx="4892040" cy="508000"/>
          </a:xfrm>
          <a:prstGeom prst="rect">
            <a:avLst/>
          </a:prstGeom>
          <a:solidFill>
            <a:srgbClr val="FFFFFF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>
            <a:normAutofit/>
          </a:bodyPr>
          <a:lstStyle/>
          <a:p>
            <a:pPr algn="ctr">
              <a:defRPr sz="1200" b="0">
                <a:solidFill>
                  <a:srgbClr val="2D3439"/>
                </a:solidFill>
              </a:defRPr>
            </a:pPr>
            <a:r>
              <a:rPr sz="1600" dirty="0" err="1"/>
              <a:t>{{ALERTA3_ACAO}}</a:t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606800"/>
            <a:ext cx="1417320" cy="508000"/>
          </a:xfrm>
          <a:prstGeom prst="rect">
            <a:avLst/>
          </a:prstGeom>
          <a:solidFill>
            <a:srgbClr val="134A3D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Prioridade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4520" y="3606800"/>
            <a:ext cx="6263640" cy="508000"/>
          </a:xfrm>
          <a:prstGeom prst="rect">
            <a:avLst/>
          </a:prstGeom>
          <a:solidFill>
            <a:srgbClr val="134A3D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Recomendação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3606800"/>
            <a:ext cx="1600200" cy="508000"/>
          </a:xfrm>
          <a:prstGeom prst="rect">
            <a:avLst/>
          </a:prstGeom>
          <a:solidFill>
            <a:srgbClr val="134A3D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Responsável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14800"/>
            <a:ext cx="1417320" cy="508000"/>
          </a:xfrm>
          <a:prstGeom prst="rect">
            <a:avLst/>
          </a:prstGeom>
          <a:solidFill>
            <a:srgbClr val="FFFFFF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>
            <a:normAutofit/>
          </a:bodyPr>
          <a:lstStyle/>
          <a:p>
            <a:pPr algn="l">
              <a:defRPr sz="1200" b="0">
                <a:solidFill>
                  <a:srgbClr val="2D3439"/>
                </a:solidFill>
              </a:defRPr>
            </a:pPr>
            <a:r>
              <a:rPr sz="1600" dirty="0" err="1"/>
              <a:t>{{RECOM1_PRIORIDADE}}</a:t>
            </a:r>
            <a:endParaRPr sz="1400" dirty="0"/>
          </a:p>
        </p:txBody>
      </p:sp>
      <p:sp>
        <p:nvSpPr>
          <p:cNvPr id="23" name="Rectangle 22"/>
          <p:cNvSpPr/>
          <p:nvPr/>
        </p:nvSpPr>
        <p:spPr>
          <a:xfrm>
            <a:off x="1874520" y="4114800"/>
            <a:ext cx="6263640" cy="508000"/>
          </a:xfrm>
          <a:prstGeom prst="rect">
            <a:avLst/>
          </a:prstGeom>
          <a:solidFill>
            <a:srgbClr val="FFFFFF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>
            <a:normAutofit/>
          </a:bodyPr>
          <a:lstStyle/>
          <a:p>
            <a:pPr algn="ctr">
              <a:defRPr sz="1200" b="0">
                <a:solidFill>
                  <a:srgbClr val="2D3439"/>
                </a:solidFill>
              </a:defRPr>
            </a:pPr>
            <a:r>
              <a:rPr sz="1600" dirty="0" err="1"/>
              <a:t>{{RECOM1_TEXTO}}</a:t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endParaRPr sz="1400" dirty="0"/>
          </a:p>
        </p:txBody>
      </p:sp>
      <p:sp>
        <p:nvSpPr>
          <p:cNvPr id="24" name="Rectangle 23"/>
          <p:cNvSpPr/>
          <p:nvPr/>
        </p:nvSpPr>
        <p:spPr>
          <a:xfrm>
            <a:off x="8138160" y="4114800"/>
            <a:ext cx="1600200" cy="508000"/>
          </a:xfrm>
          <a:prstGeom prst="rect">
            <a:avLst/>
          </a:prstGeom>
          <a:solidFill>
            <a:srgbClr val="FFFFFF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>
            <a:normAutofit/>
          </a:bodyPr>
          <a:lstStyle/>
          <a:p>
            <a:pPr algn="ctr">
              <a:defRPr sz="1200" b="0">
                <a:solidFill>
                  <a:srgbClr val="2D3439"/>
                </a:solidFill>
              </a:defRPr>
            </a:pPr>
            <a:r>
              <a:rPr sz="1600" dirty="0" err="1"/>
              <a:t>{{RECOM1_RESPONSAVEL}}</a:t>
            </a:r>
            <a:r>
              <a:rPr sz="1600" dirty="0"/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622800"/>
            <a:ext cx="1417320" cy="508000"/>
          </a:xfrm>
          <a:prstGeom prst="rect">
            <a:avLst/>
          </a:prstGeom>
          <a:solidFill>
            <a:srgbClr val="F9FAFB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>
            <a:normAutofit/>
          </a:bodyPr>
          <a:lstStyle/>
          <a:p>
            <a:pPr algn="l">
              <a:defRPr sz="1200" b="0">
                <a:solidFill>
                  <a:srgbClr val="2D3439"/>
                </a:solidFill>
              </a:defRPr>
            </a:pPr>
            <a:r>
              <a:rPr sz="1600" dirty="0" err="1"/>
              <a:t>{{RECOM2_PRIORIDADE}}</a:t>
            </a:r>
            <a:endParaRPr sz="1400" dirty="0"/>
          </a:p>
        </p:txBody>
      </p:sp>
      <p:sp>
        <p:nvSpPr>
          <p:cNvPr id="26" name="Rectangle 25"/>
          <p:cNvSpPr/>
          <p:nvPr/>
        </p:nvSpPr>
        <p:spPr>
          <a:xfrm>
            <a:off x="1874520" y="4622800"/>
            <a:ext cx="6263640" cy="508000"/>
          </a:xfrm>
          <a:prstGeom prst="rect">
            <a:avLst/>
          </a:prstGeom>
          <a:solidFill>
            <a:srgbClr val="F9FAFB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>
            <a:normAutofit/>
          </a:bodyPr>
          <a:lstStyle/>
          <a:p>
            <a:pPr algn="ctr">
              <a:defRPr sz="1200" b="0">
                <a:solidFill>
                  <a:srgbClr val="2D3439"/>
                </a:solidFill>
              </a:defRPr>
            </a:pPr>
            <a:r>
              <a:rPr sz="1600" dirty="0" err="1"/>
              <a:t>{{RECOM2_TEXTO}}</a:t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endParaRPr sz="1400" dirty="0"/>
          </a:p>
        </p:txBody>
      </p:sp>
      <p:sp>
        <p:nvSpPr>
          <p:cNvPr id="27" name="Rectangle 26"/>
          <p:cNvSpPr/>
          <p:nvPr/>
        </p:nvSpPr>
        <p:spPr>
          <a:xfrm>
            <a:off x="8138160" y="4622800"/>
            <a:ext cx="1600200" cy="508000"/>
          </a:xfrm>
          <a:prstGeom prst="rect">
            <a:avLst/>
          </a:prstGeom>
          <a:solidFill>
            <a:srgbClr val="F9FAFB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>
            <a:normAutofit/>
          </a:bodyPr>
          <a:lstStyle/>
          <a:p>
            <a:pPr algn="ctr">
              <a:defRPr sz="1200" b="0">
                <a:solidFill>
                  <a:srgbClr val="2D3439"/>
                </a:solidFill>
              </a:defRPr>
            </a:pPr>
            <a:r>
              <a:rPr sz="1600" dirty="0" err="1"/>
              <a:t>{{RECOM2_RESPONSAVEL}}</a:t>
            </a:r>
            <a:r>
              <a:rPr sz="1600" dirty="0"/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461000"/>
            <a:ext cx="9326880" cy="1270000"/>
          </a:xfrm>
          <a:prstGeom prst="roundRect">
            <a:avLst/>
          </a:prstGeom>
          <a:solidFill>
            <a:srgbClr val="E9F2EF"/>
          </a:solidFill>
          <a:ln>
            <a:solidFill>
              <a:srgbClr val="13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>
            <a:normAutofit/>
          </a:bodyPr>
          <a:lstStyle/>
          <a:p>
            <a:pPr algn="l">
              <a:defRPr sz="1200" b="0">
                <a:solidFill>
                  <a:srgbClr val="2D3439"/>
                </a:solidFill>
              </a:defRPr>
            </a:pPr>
            <a:r>
              <a:rPr sz="1600" dirty="0" err="1"/>
              <a:t>Observação</a:t>
            </a:r>
            <a:r>
              <a:rPr sz="1600" dirty="0"/>
              <a:t> final</a:t>
            </a:r>
            <a:endParaRPr lang="pt-BR" sz="1400" dirty="0"/>
          </a:p>
          <a:p>
            <a:pPr algn="l">
              <a:defRPr sz="1200" b="0">
                <a:solidFill>
                  <a:srgbClr val="2D3439"/>
                </a:solidFill>
              </a:defRPr>
            </a:pPr>
            <a:br>
              <a:rPr dirty="0"/>
            </a:br>
            <a:r>
              <a:rPr sz="1600" dirty="0" err="1"/>
              <a:t>{{OBSERVACAO_FINAL_ALERTAS}}</a:t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91812552-87AE-BC29-32EB-261D48684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0" y="279400"/>
            <a:ext cx="1206500" cy="566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006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1" y="0"/>
            <a:ext cx="10689336" cy="7562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89336" cy="128016"/>
          </a:xfrm>
          <a:prstGeom prst="rect">
            <a:avLst/>
          </a:prstGeom>
          <a:solidFill>
            <a:srgbClr val="D3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42632"/>
            <a:ext cx="10689336" cy="219456"/>
          </a:xfrm>
          <a:prstGeom prst="rect">
            <a:avLst/>
          </a:prstGeom>
          <a:solidFill>
            <a:srgbClr val="0A2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ATOM TECH | Gestão Inteligente de Energia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11480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2A22"/>
                </a:solidFill>
              </a:defRPr>
            </a:pPr>
            <a:r>
              <a:t>Parecer Técnico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786384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76C"/>
                </a:solidFill>
              </a:defRPr>
            </a:pPr>
            <a:r>
              <a:t>Encerramento formal do relatório.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9326880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>
            <a:normAutofit/>
          </a:bodyPr>
          <a:lstStyle/>
          <a:p>
            <a:pPr algn="l">
              <a:defRPr sz="1240" b="0">
                <a:solidFill>
                  <a:srgbClr val="2D3439"/>
                </a:solidFill>
              </a:defRPr>
            </a:pPr>
            <a:r>
              <a:rPr sz="1600" dirty="0" err="1"/>
              <a:t>{{PARECER_TECNICO_COMPLETO}}</a:t>
            </a:r>
            <a:r>
              <a:rPr sz="1600" dirty="0"/>
              <a:t/>
            </a:r>
            <a:r>
              <a:rPr sz="1600" dirty="0" err="1"/>
              <a:t/>
            </a:r>
            <a:br>
              <a:rPr sz="1400" dirty="0"/>
            </a:br>
            <a:br>
              <a:rPr sz="1400" dirty="0"/>
            </a:b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br>
              <a:rPr sz="1400" dirty="0"/>
            </a:br>
            <a:br>
              <a:rPr sz="1400" dirty="0"/>
            </a:b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  <a:r>
              <a:rPr sz="1600" dirty="0" err="1"/>
              <a:t/>
            </a:r>
            <a:r>
              <a:rPr sz="1600" dirty="0"/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206240"/>
            <a:ext cx="9326880" cy="960120"/>
          </a:xfrm>
          <a:prstGeom prst="roundRect">
            <a:avLst/>
          </a:prstGeom>
          <a:solidFill>
            <a:srgbClr val="F9FAFB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l">
              <a:defRPr sz="1200" b="0">
                <a:solidFill>
                  <a:srgbClr val="2D3439"/>
                </a:solidFill>
              </a:defRPr>
            </a:pPr>
            <a:r>
              <a:t>Limitação do serviço</a:t>
            </a:r>
            <a:br/>
            <a:r>
              <a:t>Este relatório possui natureza consultiva, elaborado com base nos dados disponíveis nas plataformas de monitoramento e nas informações fornecidas pelo cliente. Não constitui monitoramento em tempo real, manutenção preventiva/corretiva, garantia de desempenho mínimo ou representação junto à concessionária.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486400"/>
            <a:ext cx="3683000" cy="749808"/>
          </a:xfrm>
          <a:prstGeom prst="roundRect">
            <a:avLst/>
          </a:prstGeom>
          <a:solidFill>
            <a:srgbClr val="F9FAFB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5486400"/>
            <a:ext cx="73152" cy="749808"/>
          </a:xfrm>
          <a:prstGeom prst="rect">
            <a:avLst/>
          </a:prstGeom>
          <a:solidFill>
            <a:srgbClr val="134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5596128"/>
            <a:ext cx="345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76C"/>
                </a:solidFill>
              </a:defRPr>
            </a:pPr>
            <a:r>
              <a:t>Responsável técnico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39" y="5815585"/>
            <a:ext cx="35732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2A22"/>
                </a:solidFill>
              </a:defRPr>
            </a:pPr>
            <a:r>
              <a:rPr lang="pt-BR" sz="1400" dirty="0"/>
              <a:t>{{RESPONSAVEL_TECNICO}}</a:t>
            </a:r>
            <a:endParaRPr sz="1400" dirty="0"/>
          </a:p>
        </p:txBody>
      </p:sp>
      <p:sp>
        <p:nvSpPr>
          <p:cNvPr id="13" name="Rounded Rectangle 12"/>
          <p:cNvSpPr/>
          <p:nvPr/>
        </p:nvSpPr>
        <p:spPr>
          <a:xfrm>
            <a:off x="4368800" y="5486400"/>
            <a:ext cx="1905000" cy="749808"/>
          </a:xfrm>
          <a:prstGeom prst="roundRect">
            <a:avLst/>
          </a:prstGeom>
          <a:solidFill>
            <a:srgbClr val="F9FAFB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68800" y="5486400"/>
            <a:ext cx="73152" cy="749808"/>
          </a:xfrm>
          <a:prstGeom prst="rect">
            <a:avLst/>
          </a:prstGeom>
          <a:solidFill>
            <a:srgbClr val="D3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33900" y="5596128"/>
            <a:ext cx="167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76C"/>
                </a:solidFill>
              </a:defRPr>
            </a:pPr>
            <a:r>
              <a:t>Emissão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8919" y="5809559"/>
            <a:ext cx="192636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2A22"/>
                </a:solidFill>
              </a:defRPr>
            </a:pPr>
            <a:r>
              <a:rPr lang="pt-BR" sz="1400" dirty="0"/>
              <a:t>{{LOCAL_EMISSAO}} {{DATA_EMISSAO}}</a:t>
            </a:r>
            <a:endParaRPr sz="1400" dirty="0"/>
          </a:p>
        </p:txBody>
      </p:sp>
      <p:sp>
        <p:nvSpPr>
          <p:cNvPr id="17" name="Rounded Rectangle 16"/>
          <p:cNvSpPr/>
          <p:nvPr/>
        </p:nvSpPr>
        <p:spPr>
          <a:xfrm>
            <a:off x="6502400" y="5486400"/>
            <a:ext cx="3276600" cy="749808"/>
          </a:xfrm>
          <a:prstGeom prst="roundRect">
            <a:avLst/>
          </a:prstGeom>
          <a:solidFill>
            <a:srgbClr val="F9FAFB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02400" y="5486400"/>
            <a:ext cx="73152" cy="749808"/>
          </a:xfrm>
          <a:prstGeom prst="rect">
            <a:avLst/>
          </a:prstGeom>
          <a:solidFill>
            <a:srgbClr val="33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67500" y="5596128"/>
            <a:ext cx="90409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76C"/>
                </a:solidFill>
              </a:defRPr>
            </a:pPr>
            <a:r>
              <a:rPr lang="pt-BR" dirty="0"/>
              <a:t>Referências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6667500" y="5779008"/>
            <a:ext cx="281686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2A22"/>
                </a:solidFill>
              </a:defRPr>
            </a:pPr>
            <a:r>
              <a:rPr lang="pt-BR" sz="1600" dirty="0"/>
              <a:t>APP </a:t>
            </a:r>
            <a:r>
              <a:rPr lang="pt-BR" sz="1600" dirty="0" err="1"/>
              <a:t>Monit</a:t>
            </a:r>
            <a:r>
              <a:rPr lang="pt-BR" sz="1600" dirty="0"/>
              <a:t>.</a:t>
            </a:r>
            <a:r>
              <a:rPr sz="1600" dirty="0"/>
              <a:t> | </a:t>
            </a:r>
            <a:r>
              <a:rPr sz="1600" dirty="0" err="1"/>
              <a:t>Fatura</a:t>
            </a:r>
            <a:r>
              <a:rPr sz="1600" dirty="0"/>
              <a:t> | </a:t>
            </a:r>
            <a:r>
              <a:rPr sz="1600" dirty="0" err="1"/>
              <a:t>Contrato</a:t>
            </a:r>
            <a:endParaRPr sz="1600" dirty="0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7D9B5B94-B10C-6E13-982D-24C8889E1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0" y="279400"/>
            <a:ext cx="1206500" cy="566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89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920B8A7-122A-446E-9B66-ED585524F271}">
  <we:reference id="wa200010725" version="1.0.0.1" store="en-US" storeType="OMEX"/>
  <we:alternateReferences>
    <we:reference id="WA200010725" version="1.0.0.1" store="en-US" storeType="OMEX"/>
  </we:alternateReferences>
  <we:properties>
    <we:property name="claude.fileId" value="&quot;4f900467-f08d-40dd-8eb4-a99c61f3ffe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798</Words>
  <Application>Microsoft Office PowerPoint</Application>
  <PresentationFormat>Personalizar</PresentationFormat>
  <Paragraphs>135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usuario</dc:creator>
  <cp:keywords/>
  <dc:description>generated using python-pptx</dc:description>
  <cp:lastModifiedBy>ERYELBER CORREIA DE SOUZA</cp:lastModifiedBy>
  <cp:revision>2</cp:revision>
  <cp:lastPrinted>2026-07-10T00:32:21Z</cp:lastPrinted>
  <dcterms:created xsi:type="dcterms:W3CDTF">2013-01-27T09:14:16Z</dcterms:created>
  <dcterms:modified xsi:type="dcterms:W3CDTF">2026-07-10T00:32:39Z</dcterms:modified>
  <cp:category/>
</cp:coreProperties>
</file>